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sistem ini menggabungkan operasional cabang (POS) dan keuangan multi-entitas sampai konsolidasi holding. Bahan ini untuk menyepakati lingkup, urutan, dan jadwal.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ketiganya satu sistem, bukan tiga aplikasi yang disambung. Data penjualan tidak perlu diketik ulang ke pembukuan.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hambatan ini yang dijawab sistem. Yang paling terasa sehari-hari biasanya nomor 2 dan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2 hari adalah janji utama. Syaratnya: penjualan terjurnal otomatis dan nota diverifikasi harian.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Villa dan retail masuk lewat jalur rekap (impor) bila sistemnya tetap dipakai; F&amp;B masuk langsung dari POS kita.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jawaban langsung atas kekhawatiran soal pajak: memisahkan entitas tidak berarti kehilangan gambaran grup.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kredibilitas. Sebutkan bahwa mutu dijaga dengan uji otomatis yang dijalankan setiap perubahan.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offline-first: cabang tidak berhenti berjualan saat internet putus — ini pembeda penting.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kunci: kode akun tetap terstandar walau entitas terpisah — persis yang diminta di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menjawab pain point terbesar: validasi nota dan bukti transfer yang hari ini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Rekonsiliasi bank adalah pekerjaan rutin yang paling banyak memakan waktu tim finance — di sini jadi semi-otomatis.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Janji "LK tiap 2 hari" hanya tercapai kalau papan kelengkapan dipakai disiplin oleh cabang.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aset diminta eksplisit karena ada sewa dan hutang aset. Perlakuan PSAK 73 dapat ditambahkan bila diminta.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konsolidasi dilakukan dengan menarik saldo, bukan dengan membuka akses lintas entitas.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Jembatan masa transisi adalah kunci: laporan keuangan tidak disandera oleh jadwal migrasi 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konsekuensi ini sejak awal agar tidak menjadi kekecewaan di kemudian hari.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Jalur A memberi hasil lebih cepat. Jalur B memakan waktu lebih panjang karena menyangkut perangkat dan pelatihan di 11 cabang.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halaman yang paling sering ditanya. Tegaskan bahwa manfaat sudah terasa sejak bulan 3, jauh sebelum semuanya selesai.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Nomor 1 adalah risiko terbesar terhadap jadwal. Tanyakan angkanya di pertemuan ini juga bila memungkinkan.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komitmen waktu: setelah jawaban lengkap, rencana kerja rinci dan penawaran dapat disusun.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4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USULAN SISTEM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Operasional &amp;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Keuangan Multi-Entitas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di seluruh cabang, akuntansi per badan usaha, dan konsolidasi di level holding — dalam satu sistem.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· Roadmap · Estimasi jadwal pengembangan    |    20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BESAR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platform, tiga lapis kerja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cabang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762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mencatat penjualan di POS milik sendiri — menggantikan POS lama.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offline-first di 11 cabang</a:t>
            </a:r>
            <a:endParaRPr lang="en-US" sz="9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Struk, shift, void &amp; refund</a:t>
            </a:r>
            <a:endParaRPr lang="en-US" sz="9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Tutup hari per outlet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3716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 per entitas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1762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cabang tetap badan usaha sendiri, dengan kode akun terstandar.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otomatis dari penjualan</a:t>
            </a:r>
            <a:endParaRPr lang="en-US" sz="9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SPPK, advis bayar &amp; tagih</a:t>
            </a:r>
            <a:endParaRPr lang="en-US" sz="9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keuangan per entitas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3716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Konsolidasi holding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1762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seluruh entitas disatukan hanya di level holding.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ditarik per entitas</a:t>
            </a:r>
            <a:endParaRPr lang="en-US" sz="9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Eliminasi antar-entitas</a:t>
            </a:r>
            <a:endParaRPr lang="en-US" sz="9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 konsolidasi &amp; kertas kerja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1 dan 2 saling terhubung langsung: setiap "tutup hari" di outlet otomatis menjadi jurnal penjualan.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AWAL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menghambat hari ini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10896" cy="310896"/>
          </a:xfrm>
          <a:prstGeom prst="ellips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13716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Pembukuan di Excel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105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manual per entitas, rawan salah ketik, sulit ditelusuri, dan tidak ada jejak siapa mengubah apa.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371600"/>
            <a:ext cx="310896" cy="310896"/>
          </a:xfrm>
          <a:prstGeom prst="ellips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13716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nota manual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105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dan bukti transfer diperiksa satu per satu; dokumen fisik/foto tersebar di luar sistem.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310896" cy="310896"/>
          </a:xfrm>
          <a:prstGeom prst="ellips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42416" y="30632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mingguan terlalu lambat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021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diambil dengan angka minggu lalu; masalah baru ketahuan setelah lewat.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63240"/>
            <a:ext cx="310896" cy="310896"/>
          </a:xfrm>
          <a:prstGeom prst="ellips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30632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penjualan terpisah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021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ada di POS, pembukuan di Excel — dua dunia yang harus dijembatani manusia.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Keadaan yang ingin dicapai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hari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031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keuangan per entitas terbit berkala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06040" y="123444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21031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kali entry — tidak ada pengetikan ulang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11+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919472" y="21031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berjalan terpisah di satu platform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03720" y="123444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068312" y="21031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&amp; persetujuan punya jejak audit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366760" cy="1371600"/>
          </a:xfrm>
          <a:prstGeom prst="roundRect">
            <a:avLst>
              <a:gd name="adj" fmla="val 4000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364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berubah bagi pengguna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67588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Kasir: cukup melayani penjualan — angka mengalir sendiri ke pembukuan.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cabang: mengajukan biaya lengkap dengan foto nota, langsung dari HP.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Pusat: memverifikasi dari satu antrian, bukan dari tumpukan berkas dan chat.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data: dari kasir sampai laporan konsolidasi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10512" cy="2468880"/>
          </a:xfrm>
          <a:prstGeom prst="roundRect">
            <a:avLst>
              <a:gd name="adj" fmla="val 3030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4813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transaksi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057400"/>
            <a:ext cx="1517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11 cabang F&amp;B</a:t>
            </a:r>
            <a:endParaRPr lang="en-US" sz="900" dirty="0"/>
          </a:p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(dari sistem kamar)</a:t>
            </a:r>
            <a:endParaRPr lang="en-US" sz="900" dirty="0"/>
          </a:p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900" dirty="0"/>
          </a:p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&amp; nota cabang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5400000">
            <a:off x="2340864" y="2450592"/>
            <a:ext cx="182880" cy="237744"/>
          </a:xfrm>
          <a:prstGeom prst="triangl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96896" y="1325880"/>
            <a:ext cx="1810512" cy="2468880"/>
          </a:xfrm>
          <a:prstGeom prst="roundRect">
            <a:avLst>
              <a:gd name="adj" fmla="val 3030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4813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cloud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057400"/>
            <a:ext cx="1517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disimpan terpisah per badan usaha</a:t>
            </a:r>
            <a:endParaRPr lang="en-US" sz="900" dirty="0"/>
          </a:p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pusat</a:t>
            </a:r>
            <a:endParaRPr lang="en-US" sz="900" dirty="0"/>
          </a:p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audit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rot="5400000">
            <a:off x="4480560" y="2450592"/>
            <a:ext cx="182880" cy="237744"/>
          </a:xfrm>
          <a:prstGeom prst="triangl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325880"/>
            <a:ext cx="1810512" cy="2468880"/>
          </a:xfrm>
          <a:prstGeom prst="roundRect">
            <a:avLst>
              <a:gd name="adj" fmla="val 3030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82896" y="14813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Akuntansi entitas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82896" y="2057400"/>
            <a:ext cx="1517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otomatis</a:t>
            </a:r>
            <a:endParaRPr lang="en-US" sz="900" dirty="0"/>
          </a:p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Buku besar</a:t>
            </a:r>
            <a:endParaRPr lang="en-US" sz="900" dirty="0"/>
          </a:p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Neraca &amp; Laba Rugi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620256" y="2450592"/>
            <a:ext cx="182880" cy="237744"/>
          </a:xfrm>
          <a:prstGeom prst="triangl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76288" y="1325880"/>
            <a:ext cx="1810512" cy="246888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22592" y="14813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2057400"/>
            <a:ext cx="1517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ditarik per entitas</a:t>
            </a:r>
            <a:endParaRPr lang="en-US" sz="900" dirty="0"/>
          </a:p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Eliminasi</a:t>
            </a:r>
            <a:endParaRPr lang="en-US" sz="900" dirty="0"/>
          </a:p>
          <a:p>
            <a:pPr marL="165100" indent="-165100">
              <a:lnSpc>
                <a:spcPts val="11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 konsolidasi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0416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pengetikan ulang di antara kotak-kotak ini — perpindahan datanya otomatis dan dapat ditelusuri kembali sampai ke struk.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UTAMA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Tiap entitas berdiri sendiri dan terpisah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Pemisahan badan usaha dilakukan di lapisan database, bukan sekadar filter tampilan.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entitas punya ruang datanya sendiri; pengguna entitas lain tidak dapat membacanya.</a:t>
            </a:r>
            <a:endParaRPr lang="en-US" sz="10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admin dapat memegang beberapa entitas dengan satu akun — berpindah entitas, bukan berbagi data.</a:t>
            </a:r>
            <a:endParaRPr lang="en-US" sz="10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akses berbeda untuk cabang dan pusat: entry, verifikasi, posting, dan konsolidasi dipisah.</a:t>
            </a:r>
            <a:endParaRPr lang="en-US" sz="10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perubahan tercatat: siapa, kapan, dari perangkat apa.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4041648"/>
            <a:ext cx="4663440" cy="621792"/>
          </a:xfrm>
          <a:prstGeom prst="roundRect">
            <a:avLst>
              <a:gd name="adj" fmla="val 8824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04164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Konsolidasi tidak membuka data antar-entitas: yang naik ke holding hanya saldo ringkas.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40680" y="1143000"/>
            <a:ext cx="3246120" cy="3474720"/>
          </a:xfrm>
          <a:prstGeom prst="roundRect">
            <a:avLst>
              <a:gd name="adj" fmla="val 169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1371600"/>
            <a:ext cx="2788920" cy="603504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37160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— angka ringkas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240280"/>
            <a:ext cx="27889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24028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24028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tertutup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3017520"/>
            <a:ext cx="27889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01752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B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01752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tertutup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3794760"/>
            <a:ext cx="27889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379476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C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79476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tertutup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AWAL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sudah selesai dibangun dan diuji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2194560"/>
          </a:xfrm>
          <a:prstGeom prst="roundRect">
            <a:avLst>
              <a:gd name="adj" fmla="val 2500"/>
            </a:avLst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1188720"/>
            <a:ext cx="4114800" cy="2194560"/>
          </a:xfrm>
          <a:prstGeom prst="roundRect">
            <a:avLst>
              <a:gd name="adj" fmla="val 2500"/>
            </a:avLst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&amp; data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910328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&amp; pelaporan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multi-entitas, hak akses, PIN &amp; jejak audit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harga, pajak (PB1/PPN) &amp; promo terpusat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POS: shift, struk, void, refund, pembayaran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10328" y="17373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offline dengan antrian &amp; anti-duplikasi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laporan: tampilan, Excel, PDF, jadwal email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berbasis resep (dipakai untuk amenities villa)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tahap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&amp; lolos uji mutu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361188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otomatis lulus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361188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 detik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1 bulan, 50 outlet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Artinya pengembangan tidak dimulai dari nol: sekitar separuh kebutuhan sudah berdiri dan teruji.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·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Aplikasi POS di cabang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cepat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varian, modifier, catatan, tipe order (makan di tempat / bawa pulang), nomor meja.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8386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 tanpa internet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transaksi inti berjalan offline; data terkirim sendiri saat koneksi kembali.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lengkap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Tunai dengan pembulatan, QRIS/e-wallet, kartu/EDC, bayar terpisah (split).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 &amp; tiket dapur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struk 58/80 mm, cetak ulang, tiket dapur per stasiun, struk digital.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386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8386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penyimpangan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48386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Void, diskon manual, dan refund wajib otorisasi supervisor dan tercatat lengkap.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642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&amp; tutup hari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36422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Buka/tutup kas, hitung selisih kas, rekap hari bisnis — pemicu jurnal penjualan.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dan API-nya sudah selesai di tahap sebelumnya; yang dibangun adalah aplikasi kasirnya.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·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 akuntansi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akun terstandar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akun induk dikelola pusat, dibagikan dan dikunci di tiap entitas.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8386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laporan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jurnal membawa entitas, brand, outlet, dan departemen untuk analisa.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&amp; buku besar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manual berjenjang, jurnal berulang, koreksi lewat jurnal balik.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penjualan otomatis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tutup hari tiap outlet — termasuk pajak, diskon, dan metode bayar.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386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8386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&amp; tutup buku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48386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tanggal posting, tutup sementara untuk angka indikatif, tutup final bulanan.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642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awal &amp; migrasi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36422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 saldo awal per entitas dari Excel dengan validasi seimbang.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pemetaan akun disusun bersama akuntan Anda — sistem tidak menebak perlakuan akuntansi.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·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Dokumen, lampiran &amp; verifikasi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533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Diajukan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1031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membuat SPPK: penerima, nilai, akun beban, foto nota / bukti transfer.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 rot="5400000">
            <a:off x="2432304" y="2121408"/>
            <a:ext cx="164592" cy="219456"/>
          </a:xfrm>
          <a:prstGeom prst="triangl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18872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3533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70632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Diverifikasi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21031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memeriksa dari satu antrian; bisa disetujui, dikembalikan, atau ditolak dengan catatan.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581144" y="2121408"/>
            <a:ext cx="164592" cy="219456"/>
          </a:xfrm>
          <a:prstGeom prst="triangl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18872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13533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19472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19472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Dibayar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19472" y="21031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 bayar menentukan bank sumber dan tanggal; bukti transfer dilampirkan.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rot="5400000">
            <a:off x="6729984" y="2121408"/>
            <a:ext cx="164592" cy="219456"/>
          </a:xfrm>
          <a:prstGeom prst="triangl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118872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68312" y="13533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68312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68312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Terjurnal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68312" y="21031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terbentuk otomatis dan tertaut ke dokumen serta lampirannya.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56432"/>
            <a:ext cx="836676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602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di dalamnya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391363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 tagih untuk penagihan, termasuk antar-entitas</a:t>
            </a:r>
            <a:endParaRPr lang="en-US" sz="9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wewenang persetujuan per entitas dan per nilai</a:t>
            </a:r>
            <a:endParaRPr lang="en-US" sz="9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pola kerja: cabang ber-finance vs entry penuh oleh pusat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·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Kas, bank, hutang &amp; piutang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&amp; bank per entitas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berjalan tiap rekening, kas kecil cabang dan pertanggungjawabannya.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8386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Setoran hasil penjualan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Setoran dari outlet dicocokkan dengan penjualan tunai dan selisih kasnya.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antar entitas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menjadi hutang/piutang antar-entitas dan ditandai untuk eliminasi.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Rekonsiliasi bank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 mutasi bank, pencocokan otomatis, daftar yang belum cocok.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386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8386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Hutang supplier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48386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Tagihan masuk, jatuh tempo, pembayaran sebagian, umur hutang.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642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Piutang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36422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Tagihan keluar dari advis tagih, pelunasan, umur piutang.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·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 keuangan &amp; pajak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2788920"/>
          </a:xfrm>
          <a:prstGeom prst="roundRect">
            <a:avLst>
              <a:gd name="adj" fmla="val 196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35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per entitas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19072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Neraca dan Laba Rugi, komparatif antar periode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 Rugi per outlet, brand, dan departemen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 kas dan perubahan ekuitas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Buku besar &amp; neraca saldo dengan penelusuran ke dokumen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PPN keluaran dari data penjualan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4114800" cy="1298448"/>
          </a:xfrm>
          <a:prstGeom prst="roundRect">
            <a:avLst>
              <a:gd name="adj" fmla="val 4225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0328" y="1335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 kelengkapan harian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10328" y="16459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entitas per hari: penjualan sudah terjurnal? nota sudah diverifikasi? bank sudah direkonsiliasi? Inilah kunci agar laporan dapat terbit tiap 2 hari.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2724912"/>
            <a:ext cx="4114800" cy="1298448"/>
          </a:xfrm>
          <a:prstGeom prst="roundRect">
            <a:avLst>
              <a:gd name="adj" fmla="val 4225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0328" y="2871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otomatis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10328" y="31821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laporan dapat diunduh Excel/PDF dan dijadwalkan terkirim ke email penerima — memakai mesin laporan yang sudah berjalan.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e-Faktur/Coretax dan pencatatan potongan PPh disiapkan bila dibutuhkan — menunggu konfirmasi.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·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Aset, sewa &amp; hutang aset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aset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Kategori, entitas, lokasi/outlet, nilai perolehan, umur manfaat, dokumen kepemilikan.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8386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Penyusutan otomatis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Dihitung tiap bulan dan langsung menjadi jurnal; kartu penyusutan per aset.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33502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Mutasi &amp; pelepasan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1755648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 antar outlet atau entitas; penjualan/penghapusan dengan laba-rugi pelepasan.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sewa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Periode, nilai, termin, eskalasi, dan dokumen kontrak tersimpan.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386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8386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Akrual &amp; sewa dibayar dimuka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48386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sewa diakui tiap bulan secara otomatis, bukan saat bayar saja.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816352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296265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642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Hutang aset &amp; angsuran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364224" y="3383280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angsuran pokok dan bunga, jurnal otomatis tiap angsuran, sisa hutang.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·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Konsolidasi di level holding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ringkas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B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ringkas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C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ringkas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2331720" y="3401568"/>
            <a:ext cx="219456" cy="182880"/>
          </a:xfrm>
          <a:prstGeom prst="triangl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75888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6758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Kertas kerja konsolidasi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28016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tiap entitas ditarik berkala ke level holding — data transaksi tetap tertutup.</a:t>
            </a:r>
            <a:endParaRPr lang="en-US" sz="10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antar-entitas ditandai sejak jurnal dibuat, sehingga dapat dieliminasi otomatis.</a:t>
            </a:r>
            <a:endParaRPr lang="en-US" sz="10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pencocokan: hutang di entitas A vs piutang di entitas B, beserta selisihnya.</a:t>
            </a:r>
            <a:endParaRPr lang="en-US" sz="10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Kertas kerja menampilkan kolom per entitas → penjumlahan → eliminasi → konsolidasi.</a:t>
            </a:r>
            <a:endParaRPr lang="en-US" sz="105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Neraca dan Laba Rugi konsolidasi siap diekspor.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Kepemilikan minoritas ditambahkan bila konsolidasi bersifat statutory — menunggu konfirmasi.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KHUSUS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Villa, retail, dan gaji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— amenities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kamar terjual, pemakaian amenities otomatis mengurangi stok. Mekanismenya sudah ada di sistem (potong stok berbasis resep); tinggal disambungkan ke sistem kamar Anda.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691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pilihan: ikut memakai POS ini dengan penyesuaian barcode/SKU, atau tetap dengan sistem sekarang dan masuk lewat rekap penjualan harian.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gaji per entitas diimpor menjadi jurnal beserta lampirannya — bukan modul payroll penuh (tanpa hitung PPh 21/BPJS per karyawan).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Jembatan masa transisi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 cabang belum pindah POS, penjualan tetap masuk lewat impor rekap harian — sehingga laporan keuangan tidak perlu menunggu migrasi selesai.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LINGKUP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tidak dibangun — dan akibatnya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108960"/>
          </a:xfrm>
          <a:prstGeom prst="roundRect">
            <a:avLst>
              <a:gd name="adj" fmla="val 176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termasuk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373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penganggaran (budgeting)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persediaan penuh untuk F&amp;B: pembelian, opname, dapur pusat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penuh (absensi, hitung PPh 21 &amp; BPJS per karyawan)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pemesanan kamar villa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kurir dan payment gateway milik sendiri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4114800" cy="3108960"/>
          </a:xfrm>
          <a:prstGeom prst="roundRect">
            <a:avLst>
              <a:gd name="adj" fmla="val 1765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0328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 yang perlu disepakati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10328" y="170078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modul persediaan, harga pokok penjualan tidak terbentuk otomatis.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910328" y="2267712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 kotor per menu dan analisa food cost tidak dapat dihasilkan.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di laporan keuangan harus ditetapkan berkala secara manual.</a:t>
            </a:r>
            <a:endParaRPr lang="en-US" sz="1000" dirty="0"/>
          </a:p>
          <a:p>
            <a:pPr marL="165100" indent="-1651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kelak diinginkan, modul ini sudah tersedia dan dapat dinyalakan bertahap — misalnya mulai dari satu cabang percontohan.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jalur berjalan paralel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117043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1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182112" y="117043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123944" y="117043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3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65776" y="117043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007608" y="117043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5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17043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6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891272" y="117043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7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444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A — Keuangan &amp; akuntansi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682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Penyelarasan &amp; kode akun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40280" y="1723644"/>
            <a:ext cx="886968" cy="155448"/>
          </a:xfrm>
          <a:prstGeom prst="roundRect">
            <a:avLst>
              <a:gd name="adj" fmla="val 5294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911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&amp; buku besar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11196" y="1952244"/>
            <a:ext cx="1357884" cy="155448"/>
          </a:xfrm>
          <a:prstGeom prst="roundRect">
            <a:avLst>
              <a:gd name="adj" fmla="val 5294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1396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 rekap penjualan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3028" y="2180844"/>
            <a:ext cx="416052" cy="155448"/>
          </a:xfrm>
          <a:prstGeom prst="roundRect">
            <a:avLst>
              <a:gd name="adj" fmla="val 5294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3682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SPPK, advis &amp; kas-bank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23944" y="2409444"/>
            <a:ext cx="1357884" cy="155448"/>
          </a:xfrm>
          <a:prstGeom prst="roundRect">
            <a:avLst>
              <a:gd name="adj" fmla="val 5294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596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keuangan entitas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36692" y="2638044"/>
            <a:ext cx="416052" cy="155448"/>
          </a:xfrm>
          <a:prstGeom prst="roundRect">
            <a:avLst>
              <a:gd name="adj" fmla="val 5294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825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&amp; sewa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07608" y="2866644"/>
            <a:ext cx="886968" cy="155448"/>
          </a:xfrm>
          <a:prstGeom prst="roundRect">
            <a:avLst>
              <a:gd name="adj" fmla="val 5294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054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Konsolidasi holding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49440" y="3095244"/>
            <a:ext cx="1357884" cy="155448"/>
          </a:xfrm>
          <a:prstGeom prst="roundRect">
            <a:avLst>
              <a:gd name="adj" fmla="val 5294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291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B — POS di cabang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5295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&amp; persiapan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40280" y="3570732"/>
            <a:ext cx="416052" cy="155448"/>
          </a:xfrm>
          <a:prstGeom prst="roundRect">
            <a:avLst>
              <a:gd name="adj" fmla="val 52941"/>
            </a:avLst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7581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POS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11196" y="3799332"/>
            <a:ext cx="1828800" cy="155448"/>
          </a:xfrm>
          <a:prstGeom prst="roundRect">
            <a:avLst>
              <a:gd name="adj" fmla="val 52941"/>
            </a:avLst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39867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1 cabang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94860" y="4027932"/>
            <a:ext cx="886968" cy="155448"/>
          </a:xfrm>
          <a:prstGeom prst="roundRect">
            <a:avLst>
              <a:gd name="adj" fmla="val 52941"/>
            </a:avLst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42153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Penyesuaian hasil uji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36692" y="4256532"/>
            <a:ext cx="416052" cy="155448"/>
          </a:xfrm>
          <a:prstGeom prst="roundRect">
            <a:avLst>
              <a:gd name="adj" fmla="val 52941"/>
            </a:avLst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4439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11 cabang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07608" y="4485132"/>
            <a:ext cx="2299716" cy="155448"/>
          </a:xfrm>
          <a:prstGeom prst="roundRect">
            <a:avLst>
              <a:gd name="adj" fmla="val 52941"/>
            </a:avLst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Perkiraan dengan satu tim inti (backend, mobile, analis/QA) bekerja penuh; bulan 1 dihitung sejak kesepakatan lingkup.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yang terlihat di tiap tahap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366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995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yang dapat dilihat dan dipakai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Kesepakatan kode akun, struktur entitas &amp; hasil pemetaan POS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Jurnal &amp; buku besar berjalan; penjualan mulai terjurnal otomatis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SPPK, advis bayar/tagih &amp; lampiran nota dipakai — pemeriksaan manual berhenti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Laporan keuangan per entitas terbit; POS diuji coba di 1 cabang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Aset, sewa &amp; hutang aset masuk pembukuan; migrasi POS gelombang pertama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Laporan konsolidasi holding pertama terbit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Seluruh 11 cabang memakai POS baru; laporan berjalan rutin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dapat berubah bila integrasi pesanan online (ojol) ternyata wajib ada sejak awal — lihat halaman berikut.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MENENTUKAN JADWAL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hal yang bisa memajukan atau memundurkan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292608" cy="292608"/>
          </a:xfrm>
          <a:prstGeom prst="ellips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1344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online (GoFood, GrabFood, ShopeeFood)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8470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porsinya besar dan hari ini masuk lewat POS lama, integrasi ini menjadi syarat go-live dan menambah sekitar 6–8 minggu.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37160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1344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di cabang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18470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tablet, printer, dan EDC yang ada dapat dipakai ulang, migrasi jauh lebih cepat dan murah.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10896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42416" y="3081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Kedisiplinan entry cabang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tiap 2 hari hanya tercapai bila nota dan biaya dimasukkan harian, bukan menumpuk di akhir bulan.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EDF3FE"/>
          </a:solidFill>
          <a:ln w="12700">
            <a:solidFill>
              <a:srgbClr val="EDF3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310896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4608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3081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Kesiapan data awal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864608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akun dan saldo awal per entitas dari Excel perlu disiapkan dan disepakati di bulan pertama.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C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 berikutnya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hal yang kami butuhkan untuk mengunci lingkup dan jadwal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801368"/>
            <a:ext cx="310896" cy="310896"/>
          </a:xfrm>
          <a:prstGeom prst="ellips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83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Porsi penjualan dari ojol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039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apakah hari ini masuk lewat POS lama atau tablet terpisah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441448"/>
            <a:ext cx="310896" cy="310896"/>
          </a:xfrm>
          <a:prstGeom prst="ellips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423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 dan alur persis SPPK, advis bayar &amp; advis tagih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6791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apakah dipakai antar-entitas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81528"/>
            <a:ext cx="310896" cy="310896"/>
          </a:xfrm>
          <a:prstGeom prst="ellips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063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konsolidasi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3192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kebutuhan manajemen atau laporan resmi (statutory)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721608"/>
            <a:ext cx="310896" cy="310896"/>
          </a:xfrm>
          <a:prstGeom prst="ellipse">
            <a:avLst/>
          </a:prstGeom>
          <a:solidFill>
            <a:srgbClr val="D98B1F"/>
          </a:solidFill>
          <a:ln w="12700">
            <a:solidFill>
              <a:srgbClr val="D98B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703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kode akun &amp; laporan keuangan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9593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dipakai sekarang, beserta saldo awal per entitas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370832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22315E"/>
          </a:solidFill>
          <a:ln w="12700">
            <a:solidFill>
              <a:srgbClr val="2231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370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keempatnya terjawab: penyusunan rencana kerja rinci dan penawaran resmi.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FnB Cloud - Platform Operasional &amp; Keuangan Multi-Entitas</dc:title>
  <dc:subject>PptxGenJS Presentation</dc:subject>
  <dc:creator>FnB Cloud</dc:creator>
  <cp:lastModifiedBy>FnB Cloud</cp:lastModifiedBy>
  <cp:revision>1</cp:revision>
  <dcterms:created xsi:type="dcterms:W3CDTF">2026-09-20T17:44:53Z</dcterms:created>
  <dcterms:modified xsi:type="dcterms:W3CDTF">2026-09-20T17:44:53Z</dcterms:modified>
</cp:coreProperties>
</file>